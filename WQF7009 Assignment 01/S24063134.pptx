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C8D87-9087-611D-D59A-B52B18864C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Y"/>
          </a:p>
        </p:txBody>
      </p:sp>
      <p:sp>
        <p:nvSpPr>
          <p:cNvPr id="3" name="Subtitle 2">
            <a:extLst>
              <a:ext uri="{FF2B5EF4-FFF2-40B4-BE49-F238E27FC236}">
                <a16:creationId xmlns:a16="http://schemas.microsoft.com/office/drawing/2014/main" id="{E033152C-5D5A-07BA-12A1-4F484A8374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Y"/>
          </a:p>
        </p:txBody>
      </p:sp>
      <p:sp>
        <p:nvSpPr>
          <p:cNvPr id="4" name="Date Placeholder 3">
            <a:extLst>
              <a:ext uri="{FF2B5EF4-FFF2-40B4-BE49-F238E27FC236}">
                <a16:creationId xmlns:a16="http://schemas.microsoft.com/office/drawing/2014/main" id="{805E7E94-F493-99F2-EA09-8F8694DE3101}"/>
              </a:ext>
            </a:extLst>
          </p:cNvPr>
          <p:cNvSpPr>
            <a:spLocks noGrp="1"/>
          </p:cNvSpPr>
          <p:nvPr>
            <p:ph type="dt" sz="half" idx="10"/>
          </p:nvPr>
        </p:nvSpPr>
        <p:spPr/>
        <p:txBody>
          <a:bodyPr/>
          <a:lstStyle/>
          <a:p>
            <a:fld id="{AAAA3372-0D9A-4878-8328-A7A7A5C14842}" type="datetimeFigureOut">
              <a:rPr lang="en-MY" smtClean="0"/>
              <a:t>19/11/25</a:t>
            </a:fld>
            <a:endParaRPr lang="en-MY"/>
          </a:p>
        </p:txBody>
      </p:sp>
      <p:sp>
        <p:nvSpPr>
          <p:cNvPr id="5" name="Footer Placeholder 4">
            <a:extLst>
              <a:ext uri="{FF2B5EF4-FFF2-40B4-BE49-F238E27FC236}">
                <a16:creationId xmlns:a16="http://schemas.microsoft.com/office/drawing/2014/main" id="{A2B75280-8E48-3076-F748-140A3F4A094C}"/>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45D0C023-2114-1FB9-68BA-AB0E19A26CAC}"/>
              </a:ext>
            </a:extLst>
          </p:cNvPr>
          <p:cNvSpPr>
            <a:spLocks noGrp="1"/>
          </p:cNvSpPr>
          <p:nvPr>
            <p:ph type="sldNum" sz="quarter" idx="12"/>
          </p:nvPr>
        </p:nvSpPr>
        <p:spPr/>
        <p:txBody>
          <a:bodyPr/>
          <a:lstStyle/>
          <a:p>
            <a:fld id="{C502E5B7-FBEA-468B-92A4-34DA6E56E23D}" type="slidenum">
              <a:rPr lang="en-MY" smtClean="0"/>
              <a:t>‹#›</a:t>
            </a:fld>
            <a:endParaRPr lang="en-MY"/>
          </a:p>
        </p:txBody>
      </p:sp>
    </p:spTree>
    <p:extLst>
      <p:ext uri="{BB962C8B-B14F-4D97-AF65-F5344CB8AC3E}">
        <p14:creationId xmlns:p14="http://schemas.microsoft.com/office/powerpoint/2010/main" val="2556751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E3F86-BDE2-442E-C06B-367900EA06F7}"/>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416C18D7-2998-0239-2C98-A67BA71B0E7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9E341917-8805-3993-25AB-CF9DB0E9062B}"/>
              </a:ext>
            </a:extLst>
          </p:cNvPr>
          <p:cNvSpPr>
            <a:spLocks noGrp="1"/>
          </p:cNvSpPr>
          <p:nvPr>
            <p:ph type="dt" sz="half" idx="10"/>
          </p:nvPr>
        </p:nvSpPr>
        <p:spPr/>
        <p:txBody>
          <a:bodyPr/>
          <a:lstStyle/>
          <a:p>
            <a:fld id="{AAAA3372-0D9A-4878-8328-A7A7A5C14842}" type="datetimeFigureOut">
              <a:rPr lang="en-MY" smtClean="0"/>
              <a:t>19/11/25</a:t>
            </a:fld>
            <a:endParaRPr lang="en-MY"/>
          </a:p>
        </p:txBody>
      </p:sp>
      <p:sp>
        <p:nvSpPr>
          <p:cNvPr id="5" name="Footer Placeholder 4">
            <a:extLst>
              <a:ext uri="{FF2B5EF4-FFF2-40B4-BE49-F238E27FC236}">
                <a16:creationId xmlns:a16="http://schemas.microsoft.com/office/drawing/2014/main" id="{AAF77AD3-2861-A61D-4A2A-D59682AE486F}"/>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B8927FCD-D416-4001-C508-D97CDB38A058}"/>
              </a:ext>
            </a:extLst>
          </p:cNvPr>
          <p:cNvSpPr>
            <a:spLocks noGrp="1"/>
          </p:cNvSpPr>
          <p:nvPr>
            <p:ph type="sldNum" sz="quarter" idx="12"/>
          </p:nvPr>
        </p:nvSpPr>
        <p:spPr/>
        <p:txBody>
          <a:bodyPr/>
          <a:lstStyle/>
          <a:p>
            <a:fld id="{C502E5B7-FBEA-468B-92A4-34DA6E56E23D}" type="slidenum">
              <a:rPr lang="en-MY" smtClean="0"/>
              <a:t>‹#›</a:t>
            </a:fld>
            <a:endParaRPr lang="en-MY"/>
          </a:p>
        </p:txBody>
      </p:sp>
    </p:spTree>
    <p:extLst>
      <p:ext uri="{BB962C8B-B14F-4D97-AF65-F5344CB8AC3E}">
        <p14:creationId xmlns:p14="http://schemas.microsoft.com/office/powerpoint/2010/main" val="15288247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4012D-9EFD-A26F-3FC5-51CCB0AB9A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Y"/>
          </a:p>
        </p:txBody>
      </p:sp>
      <p:sp>
        <p:nvSpPr>
          <p:cNvPr id="3" name="Text Placeholder 2">
            <a:extLst>
              <a:ext uri="{FF2B5EF4-FFF2-40B4-BE49-F238E27FC236}">
                <a16:creationId xmlns:a16="http://schemas.microsoft.com/office/drawing/2014/main" id="{F2709A9D-B927-9048-5700-9ED1E13809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D381D4-6371-4403-3F52-CBDF40C05FDA}"/>
              </a:ext>
            </a:extLst>
          </p:cNvPr>
          <p:cNvSpPr>
            <a:spLocks noGrp="1"/>
          </p:cNvSpPr>
          <p:nvPr>
            <p:ph type="dt" sz="half" idx="10"/>
          </p:nvPr>
        </p:nvSpPr>
        <p:spPr/>
        <p:txBody>
          <a:bodyPr/>
          <a:lstStyle/>
          <a:p>
            <a:fld id="{AAAA3372-0D9A-4878-8328-A7A7A5C14842}" type="datetimeFigureOut">
              <a:rPr lang="en-MY" smtClean="0"/>
              <a:t>19/11/25</a:t>
            </a:fld>
            <a:endParaRPr lang="en-MY"/>
          </a:p>
        </p:txBody>
      </p:sp>
      <p:sp>
        <p:nvSpPr>
          <p:cNvPr id="5" name="Footer Placeholder 4">
            <a:extLst>
              <a:ext uri="{FF2B5EF4-FFF2-40B4-BE49-F238E27FC236}">
                <a16:creationId xmlns:a16="http://schemas.microsoft.com/office/drawing/2014/main" id="{5976A73B-347D-A12D-3ACF-9824B9F90217}"/>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E421CC69-3F2F-6CEC-3AE9-926907F92E4D}"/>
              </a:ext>
            </a:extLst>
          </p:cNvPr>
          <p:cNvSpPr>
            <a:spLocks noGrp="1"/>
          </p:cNvSpPr>
          <p:nvPr>
            <p:ph type="sldNum" sz="quarter" idx="12"/>
          </p:nvPr>
        </p:nvSpPr>
        <p:spPr/>
        <p:txBody>
          <a:bodyPr/>
          <a:lstStyle/>
          <a:p>
            <a:fld id="{C502E5B7-FBEA-468B-92A4-34DA6E56E23D}" type="slidenum">
              <a:rPr lang="en-MY" smtClean="0"/>
              <a:t>‹#›</a:t>
            </a:fld>
            <a:endParaRPr lang="en-MY"/>
          </a:p>
        </p:txBody>
      </p:sp>
    </p:spTree>
    <p:extLst>
      <p:ext uri="{BB962C8B-B14F-4D97-AF65-F5344CB8AC3E}">
        <p14:creationId xmlns:p14="http://schemas.microsoft.com/office/powerpoint/2010/main" val="5194343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FFC6D-4C91-A55F-18DE-367A28AD56B5}"/>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D3DDA397-8A9D-9B2E-6A9A-BF7B33FBA5C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a:extLst>
              <a:ext uri="{FF2B5EF4-FFF2-40B4-BE49-F238E27FC236}">
                <a16:creationId xmlns:a16="http://schemas.microsoft.com/office/drawing/2014/main" id="{56B43FC7-C6D1-32BF-032F-3AFD679D7B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4">
            <a:extLst>
              <a:ext uri="{FF2B5EF4-FFF2-40B4-BE49-F238E27FC236}">
                <a16:creationId xmlns:a16="http://schemas.microsoft.com/office/drawing/2014/main" id="{546A7C5B-C0D0-4144-5765-5ECDA77F8732}"/>
              </a:ext>
            </a:extLst>
          </p:cNvPr>
          <p:cNvSpPr>
            <a:spLocks noGrp="1"/>
          </p:cNvSpPr>
          <p:nvPr>
            <p:ph type="dt" sz="half" idx="10"/>
          </p:nvPr>
        </p:nvSpPr>
        <p:spPr/>
        <p:txBody>
          <a:bodyPr/>
          <a:lstStyle/>
          <a:p>
            <a:fld id="{AAAA3372-0D9A-4878-8328-A7A7A5C14842}" type="datetimeFigureOut">
              <a:rPr lang="en-MY" smtClean="0"/>
              <a:t>19/11/25</a:t>
            </a:fld>
            <a:endParaRPr lang="en-MY"/>
          </a:p>
        </p:txBody>
      </p:sp>
      <p:sp>
        <p:nvSpPr>
          <p:cNvPr id="6" name="Footer Placeholder 5">
            <a:extLst>
              <a:ext uri="{FF2B5EF4-FFF2-40B4-BE49-F238E27FC236}">
                <a16:creationId xmlns:a16="http://schemas.microsoft.com/office/drawing/2014/main" id="{C167D71C-9AAF-46FA-E567-201214DF4BC4}"/>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C0C44BFC-02C1-5C2E-6DF7-F4B2B1DA1AB3}"/>
              </a:ext>
            </a:extLst>
          </p:cNvPr>
          <p:cNvSpPr>
            <a:spLocks noGrp="1"/>
          </p:cNvSpPr>
          <p:nvPr>
            <p:ph type="sldNum" sz="quarter" idx="12"/>
          </p:nvPr>
        </p:nvSpPr>
        <p:spPr/>
        <p:txBody>
          <a:bodyPr/>
          <a:lstStyle/>
          <a:p>
            <a:fld id="{C502E5B7-FBEA-468B-92A4-34DA6E56E23D}" type="slidenum">
              <a:rPr lang="en-MY" smtClean="0"/>
              <a:t>‹#›</a:t>
            </a:fld>
            <a:endParaRPr lang="en-MY"/>
          </a:p>
        </p:txBody>
      </p:sp>
    </p:spTree>
    <p:extLst>
      <p:ext uri="{BB962C8B-B14F-4D97-AF65-F5344CB8AC3E}">
        <p14:creationId xmlns:p14="http://schemas.microsoft.com/office/powerpoint/2010/main" val="3716257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DE2E6-4355-D295-3203-32E5D9D14BBA}"/>
              </a:ext>
            </a:extLst>
          </p:cNvPr>
          <p:cNvSpPr>
            <a:spLocks noGrp="1"/>
          </p:cNvSpPr>
          <p:nvPr>
            <p:ph type="title"/>
          </p:nvPr>
        </p:nvSpPr>
        <p:spPr>
          <a:xfrm>
            <a:off x="839788" y="365125"/>
            <a:ext cx="10515600" cy="1325563"/>
          </a:xfrm>
        </p:spPr>
        <p:txBody>
          <a:bodyPr/>
          <a:lstStyle/>
          <a:p>
            <a:r>
              <a:rPr lang="en-US"/>
              <a:t>Click to edit Master title style</a:t>
            </a:r>
            <a:endParaRPr lang="en-MY"/>
          </a:p>
        </p:txBody>
      </p:sp>
      <p:sp>
        <p:nvSpPr>
          <p:cNvPr id="3" name="Text Placeholder 2">
            <a:extLst>
              <a:ext uri="{FF2B5EF4-FFF2-40B4-BE49-F238E27FC236}">
                <a16:creationId xmlns:a16="http://schemas.microsoft.com/office/drawing/2014/main" id="{FB319C3C-EA23-F012-79AE-4EAFF57A90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DDCB53-9175-4315-8E42-CF113FB8ECC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a:extLst>
              <a:ext uri="{FF2B5EF4-FFF2-40B4-BE49-F238E27FC236}">
                <a16:creationId xmlns:a16="http://schemas.microsoft.com/office/drawing/2014/main" id="{188C58A2-9266-7111-E554-2B5DF19D3D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D26D4E-7457-E449-D3BB-3294139ECA1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6">
            <a:extLst>
              <a:ext uri="{FF2B5EF4-FFF2-40B4-BE49-F238E27FC236}">
                <a16:creationId xmlns:a16="http://schemas.microsoft.com/office/drawing/2014/main" id="{05AC77FB-E7F1-2C7A-8F11-3A10FBAF551F}"/>
              </a:ext>
            </a:extLst>
          </p:cNvPr>
          <p:cNvSpPr>
            <a:spLocks noGrp="1"/>
          </p:cNvSpPr>
          <p:nvPr>
            <p:ph type="dt" sz="half" idx="10"/>
          </p:nvPr>
        </p:nvSpPr>
        <p:spPr/>
        <p:txBody>
          <a:bodyPr/>
          <a:lstStyle/>
          <a:p>
            <a:fld id="{AAAA3372-0D9A-4878-8328-A7A7A5C14842}" type="datetimeFigureOut">
              <a:rPr lang="en-MY" smtClean="0"/>
              <a:t>19/11/25</a:t>
            </a:fld>
            <a:endParaRPr lang="en-MY"/>
          </a:p>
        </p:txBody>
      </p:sp>
      <p:sp>
        <p:nvSpPr>
          <p:cNvPr id="8" name="Footer Placeholder 7">
            <a:extLst>
              <a:ext uri="{FF2B5EF4-FFF2-40B4-BE49-F238E27FC236}">
                <a16:creationId xmlns:a16="http://schemas.microsoft.com/office/drawing/2014/main" id="{7805DBFD-47CA-059F-42B8-4BE995D07233}"/>
              </a:ext>
            </a:extLst>
          </p:cNvPr>
          <p:cNvSpPr>
            <a:spLocks noGrp="1"/>
          </p:cNvSpPr>
          <p:nvPr>
            <p:ph type="ftr" sz="quarter" idx="11"/>
          </p:nvPr>
        </p:nvSpPr>
        <p:spPr/>
        <p:txBody>
          <a:bodyPr/>
          <a:lstStyle/>
          <a:p>
            <a:endParaRPr lang="en-MY"/>
          </a:p>
        </p:txBody>
      </p:sp>
      <p:sp>
        <p:nvSpPr>
          <p:cNvPr id="9" name="Slide Number Placeholder 8">
            <a:extLst>
              <a:ext uri="{FF2B5EF4-FFF2-40B4-BE49-F238E27FC236}">
                <a16:creationId xmlns:a16="http://schemas.microsoft.com/office/drawing/2014/main" id="{BD176799-112F-1762-2C64-B89AAC144364}"/>
              </a:ext>
            </a:extLst>
          </p:cNvPr>
          <p:cNvSpPr>
            <a:spLocks noGrp="1"/>
          </p:cNvSpPr>
          <p:nvPr>
            <p:ph type="sldNum" sz="quarter" idx="12"/>
          </p:nvPr>
        </p:nvSpPr>
        <p:spPr/>
        <p:txBody>
          <a:bodyPr/>
          <a:lstStyle/>
          <a:p>
            <a:fld id="{C502E5B7-FBEA-468B-92A4-34DA6E56E23D}" type="slidenum">
              <a:rPr lang="en-MY" smtClean="0"/>
              <a:t>‹#›</a:t>
            </a:fld>
            <a:endParaRPr lang="en-MY"/>
          </a:p>
        </p:txBody>
      </p:sp>
    </p:spTree>
    <p:extLst>
      <p:ext uri="{BB962C8B-B14F-4D97-AF65-F5344CB8AC3E}">
        <p14:creationId xmlns:p14="http://schemas.microsoft.com/office/powerpoint/2010/main" val="17710940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5585D-C053-84EB-4591-404EDDE77BA9}"/>
              </a:ext>
            </a:extLst>
          </p:cNvPr>
          <p:cNvSpPr>
            <a:spLocks noGrp="1"/>
          </p:cNvSpPr>
          <p:nvPr>
            <p:ph type="title"/>
          </p:nvPr>
        </p:nvSpPr>
        <p:spPr/>
        <p:txBody>
          <a:bodyPr/>
          <a:lstStyle/>
          <a:p>
            <a:r>
              <a:rPr lang="en-US"/>
              <a:t>Click to edit Master title style</a:t>
            </a:r>
            <a:endParaRPr lang="en-MY"/>
          </a:p>
        </p:txBody>
      </p:sp>
      <p:sp>
        <p:nvSpPr>
          <p:cNvPr id="3" name="Date Placeholder 2">
            <a:extLst>
              <a:ext uri="{FF2B5EF4-FFF2-40B4-BE49-F238E27FC236}">
                <a16:creationId xmlns:a16="http://schemas.microsoft.com/office/drawing/2014/main" id="{B6046D80-0ED4-1624-FB68-C70F667BCBED}"/>
              </a:ext>
            </a:extLst>
          </p:cNvPr>
          <p:cNvSpPr>
            <a:spLocks noGrp="1"/>
          </p:cNvSpPr>
          <p:nvPr>
            <p:ph type="dt" sz="half" idx="10"/>
          </p:nvPr>
        </p:nvSpPr>
        <p:spPr/>
        <p:txBody>
          <a:bodyPr/>
          <a:lstStyle/>
          <a:p>
            <a:fld id="{AAAA3372-0D9A-4878-8328-A7A7A5C14842}" type="datetimeFigureOut">
              <a:rPr lang="en-MY" smtClean="0"/>
              <a:t>19/11/25</a:t>
            </a:fld>
            <a:endParaRPr lang="en-MY"/>
          </a:p>
        </p:txBody>
      </p:sp>
      <p:sp>
        <p:nvSpPr>
          <p:cNvPr id="4" name="Footer Placeholder 3">
            <a:extLst>
              <a:ext uri="{FF2B5EF4-FFF2-40B4-BE49-F238E27FC236}">
                <a16:creationId xmlns:a16="http://schemas.microsoft.com/office/drawing/2014/main" id="{2937CFEA-BD0C-6FB2-4C3C-758A7EEC71EA}"/>
              </a:ext>
            </a:extLst>
          </p:cNvPr>
          <p:cNvSpPr>
            <a:spLocks noGrp="1"/>
          </p:cNvSpPr>
          <p:nvPr>
            <p:ph type="ftr" sz="quarter" idx="11"/>
          </p:nvPr>
        </p:nvSpPr>
        <p:spPr/>
        <p:txBody>
          <a:bodyPr/>
          <a:lstStyle/>
          <a:p>
            <a:endParaRPr lang="en-MY"/>
          </a:p>
        </p:txBody>
      </p:sp>
      <p:sp>
        <p:nvSpPr>
          <p:cNvPr id="5" name="Slide Number Placeholder 4">
            <a:extLst>
              <a:ext uri="{FF2B5EF4-FFF2-40B4-BE49-F238E27FC236}">
                <a16:creationId xmlns:a16="http://schemas.microsoft.com/office/drawing/2014/main" id="{40F1AF37-68F2-AF46-48AE-29719DEDC800}"/>
              </a:ext>
            </a:extLst>
          </p:cNvPr>
          <p:cNvSpPr>
            <a:spLocks noGrp="1"/>
          </p:cNvSpPr>
          <p:nvPr>
            <p:ph type="sldNum" sz="quarter" idx="12"/>
          </p:nvPr>
        </p:nvSpPr>
        <p:spPr/>
        <p:txBody>
          <a:bodyPr/>
          <a:lstStyle/>
          <a:p>
            <a:fld id="{C502E5B7-FBEA-468B-92A4-34DA6E56E23D}" type="slidenum">
              <a:rPr lang="en-MY" smtClean="0"/>
              <a:t>‹#›</a:t>
            </a:fld>
            <a:endParaRPr lang="en-MY"/>
          </a:p>
        </p:txBody>
      </p:sp>
    </p:spTree>
    <p:extLst>
      <p:ext uri="{BB962C8B-B14F-4D97-AF65-F5344CB8AC3E}">
        <p14:creationId xmlns:p14="http://schemas.microsoft.com/office/powerpoint/2010/main" val="4255821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A52926-A3B9-DFCC-06AB-463BF85A0189}"/>
              </a:ext>
            </a:extLst>
          </p:cNvPr>
          <p:cNvSpPr>
            <a:spLocks noGrp="1"/>
          </p:cNvSpPr>
          <p:nvPr>
            <p:ph type="dt" sz="half" idx="10"/>
          </p:nvPr>
        </p:nvSpPr>
        <p:spPr/>
        <p:txBody>
          <a:bodyPr/>
          <a:lstStyle/>
          <a:p>
            <a:fld id="{AAAA3372-0D9A-4878-8328-A7A7A5C14842}" type="datetimeFigureOut">
              <a:rPr lang="en-MY" smtClean="0"/>
              <a:t>19/11/25</a:t>
            </a:fld>
            <a:endParaRPr lang="en-MY"/>
          </a:p>
        </p:txBody>
      </p:sp>
      <p:sp>
        <p:nvSpPr>
          <p:cNvPr id="3" name="Footer Placeholder 2">
            <a:extLst>
              <a:ext uri="{FF2B5EF4-FFF2-40B4-BE49-F238E27FC236}">
                <a16:creationId xmlns:a16="http://schemas.microsoft.com/office/drawing/2014/main" id="{B83304F5-C66F-9298-1C23-2F9C073D8FEB}"/>
              </a:ext>
            </a:extLst>
          </p:cNvPr>
          <p:cNvSpPr>
            <a:spLocks noGrp="1"/>
          </p:cNvSpPr>
          <p:nvPr>
            <p:ph type="ftr" sz="quarter" idx="11"/>
          </p:nvPr>
        </p:nvSpPr>
        <p:spPr/>
        <p:txBody>
          <a:bodyPr/>
          <a:lstStyle/>
          <a:p>
            <a:endParaRPr lang="en-MY"/>
          </a:p>
        </p:txBody>
      </p:sp>
      <p:sp>
        <p:nvSpPr>
          <p:cNvPr id="4" name="Slide Number Placeholder 3">
            <a:extLst>
              <a:ext uri="{FF2B5EF4-FFF2-40B4-BE49-F238E27FC236}">
                <a16:creationId xmlns:a16="http://schemas.microsoft.com/office/drawing/2014/main" id="{47E75CA2-A4D1-25AE-0FA3-3B72E3ABF371}"/>
              </a:ext>
            </a:extLst>
          </p:cNvPr>
          <p:cNvSpPr>
            <a:spLocks noGrp="1"/>
          </p:cNvSpPr>
          <p:nvPr>
            <p:ph type="sldNum" sz="quarter" idx="12"/>
          </p:nvPr>
        </p:nvSpPr>
        <p:spPr/>
        <p:txBody>
          <a:bodyPr/>
          <a:lstStyle/>
          <a:p>
            <a:fld id="{C502E5B7-FBEA-468B-92A4-34DA6E56E23D}" type="slidenum">
              <a:rPr lang="en-MY" smtClean="0"/>
              <a:t>‹#›</a:t>
            </a:fld>
            <a:endParaRPr lang="en-MY"/>
          </a:p>
        </p:txBody>
      </p:sp>
    </p:spTree>
    <p:extLst>
      <p:ext uri="{BB962C8B-B14F-4D97-AF65-F5344CB8AC3E}">
        <p14:creationId xmlns:p14="http://schemas.microsoft.com/office/powerpoint/2010/main" val="7959642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A7377-11A1-3893-6E56-F264C8C3B3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Content Placeholder 2">
            <a:extLst>
              <a:ext uri="{FF2B5EF4-FFF2-40B4-BE49-F238E27FC236}">
                <a16:creationId xmlns:a16="http://schemas.microsoft.com/office/drawing/2014/main" id="{CF98D1BA-B6AD-706A-086A-C9D0CB59BA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a:extLst>
              <a:ext uri="{FF2B5EF4-FFF2-40B4-BE49-F238E27FC236}">
                <a16:creationId xmlns:a16="http://schemas.microsoft.com/office/drawing/2014/main" id="{3A3886C9-9698-DCA4-38F4-A3E6BE0A4E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9A7D01-6B92-1C5A-4DC6-AD4AD2DA835E}"/>
              </a:ext>
            </a:extLst>
          </p:cNvPr>
          <p:cNvSpPr>
            <a:spLocks noGrp="1"/>
          </p:cNvSpPr>
          <p:nvPr>
            <p:ph type="dt" sz="half" idx="10"/>
          </p:nvPr>
        </p:nvSpPr>
        <p:spPr/>
        <p:txBody>
          <a:bodyPr/>
          <a:lstStyle/>
          <a:p>
            <a:fld id="{AAAA3372-0D9A-4878-8328-A7A7A5C14842}" type="datetimeFigureOut">
              <a:rPr lang="en-MY" smtClean="0"/>
              <a:t>19/11/25</a:t>
            </a:fld>
            <a:endParaRPr lang="en-MY"/>
          </a:p>
        </p:txBody>
      </p:sp>
      <p:sp>
        <p:nvSpPr>
          <p:cNvPr id="6" name="Footer Placeholder 5">
            <a:extLst>
              <a:ext uri="{FF2B5EF4-FFF2-40B4-BE49-F238E27FC236}">
                <a16:creationId xmlns:a16="http://schemas.microsoft.com/office/drawing/2014/main" id="{52EA6134-07E6-9886-5478-5F0C0CA98E8C}"/>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61B2E3BD-C18E-848E-9EA3-47401A169819}"/>
              </a:ext>
            </a:extLst>
          </p:cNvPr>
          <p:cNvSpPr>
            <a:spLocks noGrp="1"/>
          </p:cNvSpPr>
          <p:nvPr>
            <p:ph type="sldNum" sz="quarter" idx="12"/>
          </p:nvPr>
        </p:nvSpPr>
        <p:spPr/>
        <p:txBody>
          <a:bodyPr/>
          <a:lstStyle/>
          <a:p>
            <a:fld id="{C502E5B7-FBEA-468B-92A4-34DA6E56E23D}" type="slidenum">
              <a:rPr lang="en-MY" smtClean="0"/>
              <a:t>‹#›</a:t>
            </a:fld>
            <a:endParaRPr lang="en-MY"/>
          </a:p>
        </p:txBody>
      </p:sp>
    </p:spTree>
    <p:extLst>
      <p:ext uri="{BB962C8B-B14F-4D97-AF65-F5344CB8AC3E}">
        <p14:creationId xmlns:p14="http://schemas.microsoft.com/office/powerpoint/2010/main" val="4084422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6B49F-77C9-5254-C770-8B3CAB0531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Picture Placeholder 2">
            <a:extLst>
              <a:ext uri="{FF2B5EF4-FFF2-40B4-BE49-F238E27FC236}">
                <a16:creationId xmlns:a16="http://schemas.microsoft.com/office/drawing/2014/main" id="{CA1D5550-1AB3-D188-3329-38D2D3FC4A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Y"/>
          </a:p>
        </p:txBody>
      </p:sp>
      <p:sp>
        <p:nvSpPr>
          <p:cNvPr id="4" name="Text Placeholder 3">
            <a:extLst>
              <a:ext uri="{FF2B5EF4-FFF2-40B4-BE49-F238E27FC236}">
                <a16:creationId xmlns:a16="http://schemas.microsoft.com/office/drawing/2014/main" id="{3A8F2DE5-215A-9D40-5C61-2401254098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542BB1-BA4E-708E-CEAF-6FC09F5A3576}"/>
              </a:ext>
            </a:extLst>
          </p:cNvPr>
          <p:cNvSpPr>
            <a:spLocks noGrp="1"/>
          </p:cNvSpPr>
          <p:nvPr>
            <p:ph type="dt" sz="half" idx="10"/>
          </p:nvPr>
        </p:nvSpPr>
        <p:spPr/>
        <p:txBody>
          <a:bodyPr/>
          <a:lstStyle/>
          <a:p>
            <a:fld id="{AAAA3372-0D9A-4878-8328-A7A7A5C14842}" type="datetimeFigureOut">
              <a:rPr lang="en-MY" smtClean="0"/>
              <a:t>19/11/25</a:t>
            </a:fld>
            <a:endParaRPr lang="en-MY"/>
          </a:p>
        </p:txBody>
      </p:sp>
      <p:sp>
        <p:nvSpPr>
          <p:cNvPr id="6" name="Footer Placeholder 5">
            <a:extLst>
              <a:ext uri="{FF2B5EF4-FFF2-40B4-BE49-F238E27FC236}">
                <a16:creationId xmlns:a16="http://schemas.microsoft.com/office/drawing/2014/main" id="{A1BFFA41-2B46-6C2C-F80F-D5D0F992BA50}"/>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3873516F-FE5A-ACEC-4FA7-9D1083663B2C}"/>
              </a:ext>
            </a:extLst>
          </p:cNvPr>
          <p:cNvSpPr>
            <a:spLocks noGrp="1"/>
          </p:cNvSpPr>
          <p:nvPr>
            <p:ph type="sldNum" sz="quarter" idx="12"/>
          </p:nvPr>
        </p:nvSpPr>
        <p:spPr/>
        <p:txBody>
          <a:bodyPr/>
          <a:lstStyle/>
          <a:p>
            <a:fld id="{C502E5B7-FBEA-468B-92A4-34DA6E56E23D}" type="slidenum">
              <a:rPr lang="en-MY" smtClean="0"/>
              <a:t>‹#›</a:t>
            </a:fld>
            <a:endParaRPr lang="en-MY"/>
          </a:p>
        </p:txBody>
      </p:sp>
    </p:spTree>
    <p:extLst>
      <p:ext uri="{BB962C8B-B14F-4D97-AF65-F5344CB8AC3E}">
        <p14:creationId xmlns:p14="http://schemas.microsoft.com/office/powerpoint/2010/main" val="2399925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F64D8-7378-FC70-9972-BF04702B7222}"/>
              </a:ext>
            </a:extLst>
          </p:cNvPr>
          <p:cNvSpPr>
            <a:spLocks noGrp="1"/>
          </p:cNvSpPr>
          <p:nvPr>
            <p:ph type="title"/>
          </p:nvPr>
        </p:nvSpPr>
        <p:spPr/>
        <p:txBody>
          <a:bodyPr/>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53129773-E8E8-3427-15CB-E6062B5C75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0DA891B1-D970-5143-40E4-B1B3A2C1004F}"/>
              </a:ext>
            </a:extLst>
          </p:cNvPr>
          <p:cNvSpPr>
            <a:spLocks noGrp="1"/>
          </p:cNvSpPr>
          <p:nvPr>
            <p:ph type="dt" sz="half" idx="10"/>
          </p:nvPr>
        </p:nvSpPr>
        <p:spPr/>
        <p:txBody>
          <a:bodyPr/>
          <a:lstStyle/>
          <a:p>
            <a:fld id="{AAAA3372-0D9A-4878-8328-A7A7A5C14842}" type="datetimeFigureOut">
              <a:rPr lang="en-MY" smtClean="0"/>
              <a:t>19/11/25</a:t>
            </a:fld>
            <a:endParaRPr lang="en-MY"/>
          </a:p>
        </p:txBody>
      </p:sp>
      <p:sp>
        <p:nvSpPr>
          <p:cNvPr id="5" name="Footer Placeholder 4">
            <a:extLst>
              <a:ext uri="{FF2B5EF4-FFF2-40B4-BE49-F238E27FC236}">
                <a16:creationId xmlns:a16="http://schemas.microsoft.com/office/drawing/2014/main" id="{5DEE6FED-5335-1524-796D-8DDC9458FEAC}"/>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14649DD5-E741-FAC9-9838-2442410AF7CD}"/>
              </a:ext>
            </a:extLst>
          </p:cNvPr>
          <p:cNvSpPr>
            <a:spLocks noGrp="1"/>
          </p:cNvSpPr>
          <p:nvPr>
            <p:ph type="sldNum" sz="quarter" idx="12"/>
          </p:nvPr>
        </p:nvSpPr>
        <p:spPr/>
        <p:txBody>
          <a:bodyPr/>
          <a:lstStyle/>
          <a:p>
            <a:fld id="{C502E5B7-FBEA-468B-92A4-34DA6E56E23D}" type="slidenum">
              <a:rPr lang="en-MY" smtClean="0"/>
              <a:t>‹#›</a:t>
            </a:fld>
            <a:endParaRPr lang="en-MY"/>
          </a:p>
        </p:txBody>
      </p:sp>
    </p:spTree>
    <p:extLst>
      <p:ext uri="{BB962C8B-B14F-4D97-AF65-F5344CB8AC3E}">
        <p14:creationId xmlns:p14="http://schemas.microsoft.com/office/powerpoint/2010/main" val="4294095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1C026B-9597-3CCA-5C0C-4591A5B492E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B3F02F81-20A8-0F55-AE87-8B3383626CE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33E4CDD9-2D44-BE29-624F-BC1585EC8B84}"/>
              </a:ext>
            </a:extLst>
          </p:cNvPr>
          <p:cNvSpPr>
            <a:spLocks noGrp="1"/>
          </p:cNvSpPr>
          <p:nvPr>
            <p:ph type="dt" sz="half" idx="10"/>
          </p:nvPr>
        </p:nvSpPr>
        <p:spPr/>
        <p:txBody>
          <a:bodyPr/>
          <a:lstStyle/>
          <a:p>
            <a:fld id="{AAAA3372-0D9A-4878-8328-A7A7A5C14842}" type="datetimeFigureOut">
              <a:rPr lang="en-MY" smtClean="0"/>
              <a:t>19/11/25</a:t>
            </a:fld>
            <a:endParaRPr lang="en-MY"/>
          </a:p>
        </p:txBody>
      </p:sp>
      <p:sp>
        <p:nvSpPr>
          <p:cNvPr id="5" name="Footer Placeholder 4">
            <a:extLst>
              <a:ext uri="{FF2B5EF4-FFF2-40B4-BE49-F238E27FC236}">
                <a16:creationId xmlns:a16="http://schemas.microsoft.com/office/drawing/2014/main" id="{F650A7EE-1840-1273-88DA-61F0D83DEA05}"/>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430E375C-1410-1CF3-9083-915C85C4CE78}"/>
              </a:ext>
            </a:extLst>
          </p:cNvPr>
          <p:cNvSpPr>
            <a:spLocks noGrp="1"/>
          </p:cNvSpPr>
          <p:nvPr>
            <p:ph type="sldNum" sz="quarter" idx="12"/>
          </p:nvPr>
        </p:nvSpPr>
        <p:spPr/>
        <p:txBody>
          <a:bodyPr/>
          <a:lstStyle/>
          <a:p>
            <a:fld id="{C502E5B7-FBEA-468B-92A4-34DA6E56E23D}" type="slidenum">
              <a:rPr lang="en-MY" smtClean="0"/>
              <a:t>‹#›</a:t>
            </a:fld>
            <a:endParaRPr lang="en-MY"/>
          </a:p>
        </p:txBody>
      </p:sp>
    </p:spTree>
    <p:extLst>
      <p:ext uri="{BB962C8B-B14F-4D97-AF65-F5344CB8AC3E}">
        <p14:creationId xmlns:p14="http://schemas.microsoft.com/office/powerpoint/2010/main" val="36923759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1FC08B-B365-A59A-D1B2-79E7E555B7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Y"/>
          </a:p>
        </p:txBody>
      </p:sp>
      <p:sp>
        <p:nvSpPr>
          <p:cNvPr id="3" name="Text Placeholder 2">
            <a:extLst>
              <a:ext uri="{FF2B5EF4-FFF2-40B4-BE49-F238E27FC236}">
                <a16:creationId xmlns:a16="http://schemas.microsoft.com/office/drawing/2014/main" id="{AF47A898-632A-BE14-084B-D4D21617A3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0240F77B-A7C2-21D8-0DBF-31940377E1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AA3372-0D9A-4878-8328-A7A7A5C14842}" type="datetimeFigureOut">
              <a:rPr lang="en-MY" smtClean="0"/>
              <a:t>19/11/25</a:t>
            </a:fld>
            <a:endParaRPr lang="en-MY"/>
          </a:p>
        </p:txBody>
      </p:sp>
      <p:sp>
        <p:nvSpPr>
          <p:cNvPr id="5" name="Footer Placeholder 4">
            <a:extLst>
              <a:ext uri="{FF2B5EF4-FFF2-40B4-BE49-F238E27FC236}">
                <a16:creationId xmlns:a16="http://schemas.microsoft.com/office/drawing/2014/main" id="{DD9A1D14-9788-5F0F-D3C8-DBEC811CC2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MY"/>
          </a:p>
        </p:txBody>
      </p:sp>
      <p:sp>
        <p:nvSpPr>
          <p:cNvPr id="6" name="Slide Number Placeholder 5">
            <a:extLst>
              <a:ext uri="{FF2B5EF4-FFF2-40B4-BE49-F238E27FC236}">
                <a16:creationId xmlns:a16="http://schemas.microsoft.com/office/drawing/2014/main" id="{4D59120D-EDC4-B882-002A-4400D98D25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02E5B7-FBEA-468B-92A4-34DA6E56E23D}" type="slidenum">
              <a:rPr lang="en-MY" smtClean="0"/>
              <a:t>‹#›</a:t>
            </a:fld>
            <a:endParaRPr lang="en-MY"/>
          </a:p>
        </p:txBody>
      </p:sp>
    </p:spTree>
    <p:extLst>
      <p:ext uri="{BB962C8B-B14F-4D97-AF65-F5344CB8AC3E}">
        <p14:creationId xmlns:p14="http://schemas.microsoft.com/office/powerpoint/2010/main" val="33779278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AE0B8C6-EA95-CBC9-0790-E3D05E80C0FB}"/>
              </a:ext>
            </a:extLst>
          </p:cNvPr>
          <p:cNvSpPr>
            <a:spLocks noGrp="1"/>
          </p:cNvSpPr>
          <p:nvPr>
            <p:ph type="title"/>
          </p:nvPr>
        </p:nvSpPr>
        <p:spPr>
          <a:xfrm>
            <a:off x="839788" y="192023"/>
            <a:ext cx="5338994" cy="493777"/>
          </a:xfrm>
        </p:spPr>
        <p:txBody>
          <a:bodyPr>
            <a:normAutofit fontScale="90000"/>
          </a:bodyPr>
          <a:lstStyle/>
          <a:p>
            <a:r>
              <a:rPr lang="en-MY" dirty="0"/>
              <a:t>As data scientist</a:t>
            </a:r>
          </a:p>
        </p:txBody>
      </p:sp>
      <p:pic>
        <p:nvPicPr>
          <p:cNvPr id="8" name="Picture Placeholder 7">
            <a:extLst>
              <a:ext uri="{FF2B5EF4-FFF2-40B4-BE49-F238E27FC236}">
                <a16:creationId xmlns:a16="http://schemas.microsoft.com/office/drawing/2014/main" id="{7AF0877F-A644-A171-732F-BB8E80723AD9}"/>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t="293" b="293"/>
          <a:stretch/>
        </p:blipFill>
        <p:spPr>
          <a:xfrm>
            <a:off x="6178782" y="1570481"/>
            <a:ext cx="5176606" cy="4288536"/>
          </a:xfrm>
        </p:spPr>
      </p:pic>
      <p:sp>
        <p:nvSpPr>
          <p:cNvPr id="6" name="Text Placeholder 5">
            <a:extLst>
              <a:ext uri="{FF2B5EF4-FFF2-40B4-BE49-F238E27FC236}">
                <a16:creationId xmlns:a16="http://schemas.microsoft.com/office/drawing/2014/main" id="{049028AB-57CC-B8B3-E6A9-EE37EA780CD1}"/>
              </a:ext>
            </a:extLst>
          </p:cNvPr>
          <p:cNvSpPr>
            <a:spLocks noGrp="1"/>
          </p:cNvSpPr>
          <p:nvPr>
            <p:ph type="body" sz="half" idx="2"/>
          </p:nvPr>
        </p:nvSpPr>
        <p:spPr>
          <a:xfrm>
            <a:off x="839788" y="854963"/>
            <a:ext cx="5338994" cy="5719573"/>
          </a:xfrm>
        </p:spPr>
        <p:txBody>
          <a:bodyPr>
            <a:normAutofit lnSpcReduction="10000"/>
          </a:bodyPr>
          <a:lstStyle/>
          <a:p>
            <a:pPr marL="342900" indent="-342900">
              <a:buFont typeface="+mj-lt"/>
              <a:buAutoNum type="arabicPeriod"/>
            </a:pPr>
            <a:r>
              <a:rPr lang="en-US" dirty="0"/>
              <a:t>Feature Importance and Model Focus:</a:t>
            </a:r>
          </a:p>
          <a:p>
            <a:pPr marL="800100" lvl="1" indent="-342900">
              <a:buFont typeface="Arial" panose="020B0604020202020204" pitchFamily="34" charset="0"/>
              <a:buChar char="•"/>
            </a:pPr>
            <a:r>
              <a:rPr lang="en-US" dirty="0"/>
              <a:t>The model relies heavily on age, </a:t>
            </a:r>
            <a:r>
              <a:rPr lang="en-US" dirty="0" err="1"/>
              <a:t>avg_glucose_level</a:t>
            </a:r>
            <a:r>
              <a:rPr lang="en-US" dirty="0"/>
              <a:t>, </a:t>
            </a:r>
            <a:r>
              <a:rPr lang="en-US" dirty="0" err="1"/>
              <a:t>bmi</a:t>
            </a:r>
            <a:r>
              <a:rPr lang="en-US" dirty="0"/>
              <a:t>, and hypertension, with age being the most influential one.</a:t>
            </a:r>
          </a:p>
          <a:p>
            <a:pPr marL="800100" lvl="1" indent="-342900">
              <a:buFont typeface="Arial" panose="020B0604020202020204" pitchFamily="34" charset="0"/>
              <a:buChar char="•"/>
            </a:pPr>
            <a:r>
              <a:rPr lang="en-US" dirty="0"/>
              <a:t>The features at the bottom, such as work type, have very minimal influence on the output and could potentially be removed.</a:t>
            </a:r>
          </a:p>
          <a:p>
            <a:pPr marL="342900" indent="-342900">
              <a:buFont typeface="+mj-lt"/>
              <a:buAutoNum type="arabicPeriod"/>
            </a:pPr>
            <a:r>
              <a:rPr lang="en-MY" dirty="0"/>
              <a:t>Feature Impact:</a:t>
            </a:r>
          </a:p>
          <a:p>
            <a:pPr marL="800100" lvl="1" indent="-342900">
              <a:buFont typeface="Arial" panose="020B0604020202020204" pitchFamily="34" charset="0"/>
              <a:buChar char="•"/>
            </a:pPr>
            <a:r>
              <a:rPr lang="en-MY" dirty="0"/>
              <a:t>Positive Impact: </a:t>
            </a:r>
            <a:r>
              <a:rPr lang="en-US" dirty="0"/>
              <a:t>Positive SHAP values increase the predicted stroke risk, as can be seen with age, </a:t>
            </a:r>
            <a:r>
              <a:rPr lang="en-US" dirty="0" err="1"/>
              <a:t>avg_glucose_level</a:t>
            </a:r>
            <a:r>
              <a:rPr lang="en-US" dirty="0"/>
              <a:t>, and so on where high values push the risk higher.</a:t>
            </a:r>
          </a:p>
          <a:p>
            <a:pPr marL="800100" lvl="1" indent="-342900">
              <a:buFont typeface="Arial" panose="020B0604020202020204" pitchFamily="34" charset="0"/>
              <a:buChar char="•"/>
            </a:pPr>
            <a:r>
              <a:rPr lang="en-US" dirty="0"/>
              <a:t>Negative Impact: age, hypertension, </a:t>
            </a:r>
            <a:r>
              <a:rPr lang="en-US" dirty="0" err="1"/>
              <a:t>heart_disease</a:t>
            </a:r>
            <a:r>
              <a:rPr lang="en-US" dirty="0"/>
              <a:t> and so on demonstrates that lower values push the risk lower.</a:t>
            </a:r>
            <a:endParaRPr lang="en-MY" dirty="0"/>
          </a:p>
          <a:p>
            <a:pPr marL="342900" indent="-342900">
              <a:buFont typeface="+mj-lt"/>
              <a:buAutoNum type="arabicPeriod"/>
            </a:pPr>
            <a:r>
              <a:rPr lang="en-MY" dirty="0"/>
              <a:t>Feature Interaction and Distribution:</a:t>
            </a:r>
          </a:p>
          <a:p>
            <a:pPr marL="800100" lvl="1" indent="-342900">
              <a:buFont typeface="Arial" panose="020B0604020202020204" pitchFamily="34" charset="0"/>
              <a:buChar char="•"/>
            </a:pPr>
            <a:r>
              <a:rPr lang="en-US" dirty="0"/>
              <a:t>The features like hypertension, heart disease, and the binary ever married Yes/No are clustered more tightly as they are binary features where the effect is either on or off.</a:t>
            </a:r>
          </a:p>
          <a:p>
            <a:pPr marL="800100" lvl="1" indent="-342900">
              <a:buFont typeface="Arial" panose="020B0604020202020204" pitchFamily="34" charset="0"/>
              <a:buChar char="•"/>
            </a:pPr>
            <a:r>
              <a:rPr lang="en-US" dirty="0"/>
              <a:t>The large, distinct spread for age, </a:t>
            </a:r>
            <a:r>
              <a:rPr lang="en-US" dirty="0" err="1"/>
              <a:t>avg_glucose_level</a:t>
            </a:r>
            <a:r>
              <a:rPr lang="en-US" dirty="0"/>
              <a:t>, and </a:t>
            </a:r>
            <a:r>
              <a:rPr lang="en-US" dirty="0" err="1"/>
              <a:t>bmi</a:t>
            </a:r>
            <a:r>
              <a:rPr lang="en-US" dirty="0"/>
              <a:t> suggests that their impact on the prediction is not uniform and might depend heavily on their interaction with other features or that the relationship is highly non-linear.</a:t>
            </a:r>
            <a:endParaRPr lang="en-MY" dirty="0"/>
          </a:p>
          <a:p>
            <a:pPr marL="342900" indent="-342900">
              <a:buFont typeface="+mj-lt"/>
              <a:buAutoNum type="arabicPeriod"/>
            </a:pPr>
            <a:r>
              <a:rPr lang="en-MY" dirty="0"/>
              <a:t>Feature Encoding and Imputation Assessment:</a:t>
            </a:r>
          </a:p>
          <a:p>
            <a:pPr marL="800100" lvl="1" indent="-342900">
              <a:buFont typeface="Arial" panose="020B0604020202020204" pitchFamily="34" charset="0"/>
              <a:buChar char="•"/>
            </a:pPr>
            <a:r>
              <a:rPr lang="en-MY" dirty="0"/>
              <a:t>Encoded features such as </a:t>
            </a:r>
            <a:r>
              <a:rPr lang="en-US" dirty="0"/>
              <a:t>(e.g., </a:t>
            </a:r>
            <a:r>
              <a:rPr lang="en-US" dirty="0" err="1"/>
              <a:t>ever_married_Yes</a:t>
            </a:r>
            <a:r>
              <a:rPr lang="en-US" dirty="0"/>
              <a:t> and </a:t>
            </a:r>
            <a:r>
              <a:rPr lang="en-US" dirty="0" err="1"/>
              <a:t>ever_married_No</a:t>
            </a:r>
            <a:r>
              <a:rPr lang="en-US" dirty="0"/>
              <a:t>) are showing </a:t>
            </a:r>
            <a:r>
              <a:rPr lang="en-MY" dirty="0"/>
              <a:t>compensatory effect which is the expected behaviour.</a:t>
            </a:r>
          </a:p>
          <a:p>
            <a:pPr marL="800100" lvl="1" indent="-342900">
              <a:buFont typeface="Arial" panose="020B0604020202020204" pitchFamily="34" charset="0"/>
              <a:buChar char="•"/>
            </a:pPr>
            <a:r>
              <a:rPr lang="en-MY" dirty="0"/>
              <a:t>The missing values of BMI was imputed using KNN method. It does seem like the high values are mostly increasing the risk after the imputation.</a:t>
            </a:r>
          </a:p>
        </p:txBody>
      </p:sp>
    </p:spTree>
    <p:extLst>
      <p:ext uri="{BB962C8B-B14F-4D97-AF65-F5344CB8AC3E}">
        <p14:creationId xmlns:p14="http://schemas.microsoft.com/office/powerpoint/2010/main" val="3490555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105D5-2148-CF22-2694-CEA1758C93B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9326FB2-3C19-D12A-1F56-BEBECF54B9C2}"/>
              </a:ext>
            </a:extLst>
          </p:cNvPr>
          <p:cNvSpPr>
            <a:spLocks noGrp="1"/>
          </p:cNvSpPr>
          <p:nvPr>
            <p:ph type="title"/>
          </p:nvPr>
        </p:nvSpPr>
        <p:spPr>
          <a:xfrm>
            <a:off x="839788" y="82296"/>
            <a:ext cx="5338994" cy="694944"/>
          </a:xfrm>
        </p:spPr>
        <p:txBody>
          <a:bodyPr/>
          <a:lstStyle/>
          <a:p>
            <a:r>
              <a:rPr lang="en-MY" dirty="0"/>
              <a:t>As Doctor</a:t>
            </a:r>
          </a:p>
        </p:txBody>
      </p:sp>
      <p:pic>
        <p:nvPicPr>
          <p:cNvPr id="8" name="Picture Placeholder 7">
            <a:extLst>
              <a:ext uri="{FF2B5EF4-FFF2-40B4-BE49-F238E27FC236}">
                <a16:creationId xmlns:a16="http://schemas.microsoft.com/office/drawing/2014/main" id="{D4FD4196-D5B6-BC2E-F171-84C5C8221545}"/>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72" r="72"/>
          <a:stretch/>
        </p:blipFill>
        <p:spPr>
          <a:xfrm>
            <a:off x="6425184" y="932688"/>
            <a:ext cx="5176606" cy="5367528"/>
          </a:xfrm>
        </p:spPr>
      </p:pic>
      <p:sp>
        <p:nvSpPr>
          <p:cNvPr id="6" name="Text Placeholder 5">
            <a:extLst>
              <a:ext uri="{FF2B5EF4-FFF2-40B4-BE49-F238E27FC236}">
                <a16:creationId xmlns:a16="http://schemas.microsoft.com/office/drawing/2014/main" id="{52C8254F-A3A8-6905-0B78-2B29E044FE7C}"/>
              </a:ext>
            </a:extLst>
          </p:cNvPr>
          <p:cNvSpPr>
            <a:spLocks noGrp="1"/>
          </p:cNvSpPr>
          <p:nvPr>
            <p:ph type="body" sz="half" idx="2"/>
          </p:nvPr>
        </p:nvSpPr>
        <p:spPr>
          <a:xfrm>
            <a:off x="839788" y="850392"/>
            <a:ext cx="5338994" cy="5925312"/>
          </a:xfrm>
        </p:spPr>
        <p:txBody>
          <a:bodyPr>
            <a:normAutofit/>
          </a:bodyPr>
          <a:lstStyle/>
          <a:p>
            <a:pPr marL="342900" indent="-342900">
              <a:buFont typeface="+mj-lt"/>
              <a:buAutoNum type="arabicPeriod"/>
            </a:pPr>
            <a:r>
              <a:rPr lang="en-MY" dirty="0"/>
              <a:t>The Baseline Risk and Final Prediction:</a:t>
            </a:r>
          </a:p>
          <a:p>
            <a:pPr marL="800100" lvl="1" indent="-342900">
              <a:buFont typeface="Arial" panose="020B0604020202020204" pitchFamily="34" charset="0"/>
              <a:buChar char="•"/>
            </a:pPr>
            <a:r>
              <a:rPr lang="en-MY" dirty="0"/>
              <a:t>The model’s expected baseline prediction is 0.501 for a patient. This specific patient has a prediction value of 0.46, which is lower than average but pretty close to a risky level.</a:t>
            </a:r>
          </a:p>
          <a:p>
            <a:pPr marL="342900" indent="-342900">
              <a:buFont typeface="+mj-lt"/>
              <a:buAutoNum type="arabicPeriod"/>
            </a:pPr>
            <a:r>
              <a:rPr lang="en-MY" dirty="0"/>
              <a:t>Key Risk Factors:</a:t>
            </a:r>
          </a:p>
          <a:p>
            <a:pPr marL="800100" lvl="1" indent="-342900">
              <a:buFont typeface="Arial" panose="020B0604020202020204" pitchFamily="34" charset="0"/>
              <a:buChar char="•"/>
            </a:pPr>
            <a:r>
              <a:rPr lang="en-MY" dirty="0"/>
              <a:t>Risk Reducers (Blue Bars): The low glucose level is the largest risk reducer for this patient. Similarly, BMI also helps reduce the risk further. Also, the fact that his smoking habit is unknown is captured positively by the model, as it assumes that the patient is not a previous or current smoker. Gender also seems to reduce the risk for this patient, but it is not medically actionable.</a:t>
            </a:r>
          </a:p>
          <a:p>
            <a:pPr marL="800100" lvl="1" indent="-342900">
              <a:buFont typeface="Arial" panose="020B0604020202020204" pitchFamily="34" charset="0"/>
              <a:buChar char="•"/>
            </a:pPr>
            <a:r>
              <a:rPr lang="en-MY" dirty="0"/>
              <a:t>Risk Aggravators (Red Bars): </a:t>
            </a:r>
            <a:r>
              <a:rPr lang="en-US" dirty="0"/>
              <a:t>The hypertension of this patient creates the biggest risk. The advanced age, while not medically actionable, also contributes to the risk and the patient needs to be made aware of this. Some other features which also add to the risk are not medically actionable.</a:t>
            </a:r>
            <a:endParaRPr lang="en-MY" dirty="0"/>
          </a:p>
          <a:p>
            <a:pPr marL="342900" indent="-342900">
              <a:buFont typeface="+mj-lt"/>
              <a:buAutoNum type="arabicPeriod"/>
            </a:pPr>
            <a:r>
              <a:rPr lang="en-MY" dirty="0"/>
              <a:t>Conclusion:</a:t>
            </a:r>
          </a:p>
          <a:p>
            <a:pPr marL="800100" lvl="1" indent="-342900">
              <a:buFont typeface="Arial" panose="020B0604020202020204" pitchFamily="34" charset="0"/>
              <a:buChar char="•"/>
            </a:pPr>
            <a:r>
              <a:rPr lang="en-MY" dirty="0"/>
              <a:t>The doctor should advise the patient to continue controlling his low glucose level and BMI.</a:t>
            </a:r>
          </a:p>
          <a:p>
            <a:pPr marL="800100" lvl="1" indent="-342900">
              <a:buFont typeface="Arial" panose="020B0604020202020204" pitchFamily="34" charset="0"/>
              <a:buChar char="•"/>
            </a:pPr>
            <a:r>
              <a:rPr lang="en-MY" dirty="0"/>
              <a:t>The patient should be advised to control her hypertension as it is the biggest risk factor.</a:t>
            </a:r>
          </a:p>
          <a:p>
            <a:pPr marL="800100" lvl="1" indent="-342900">
              <a:buFont typeface="Arial" panose="020B0604020202020204" pitchFamily="34" charset="0"/>
              <a:buChar char="•"/>
            </a:pPr>
            <a:r>
              <a:rPr lang="en-MY" dirty="0"/>
              <a:t>The patient should be advised to control these factors as advancing age is not medically actionable and the risk value is dangerously close to average.</a:t>
            </a:r>
          </a:p>
        </p:txBody>
      </p:sp>
    </p:spTree>
    <p:extLst>
      <p:ext uri="{BB962C8B-B14F-4D97-AF65-F5344CB8AC3E}">
        <p14:creationId xmlns:p14="http://schemas.microsoft.com/office/powerpoint/2010/main" val="534645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8A179-4B5A-AA10-8A7B-97B5A3384BB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AA76D9A-F504-0F81-2F16-89DBA43F4A11}"/>
              </a:ext>
            </a:extLst>
          </p:cNvPr>
          <p:cNvSpPr>
            <a:spLocks noGrp="1"/>
          </p:cNvSpPr>
          <p:nvPr>
            <p:ph type="title"/>
          </p:nvPr>
        </p:nvSpPr>
        <p:spPr>
          <a:xfrm>
            <a:off x="1590167" y="3886200"/>
            <a:ext cx="2177161" cy="694944"/>
          </a:xfrm>
        </p:spPr>
        <p:txBody>
          <a:bodyPr/>
          <a:lstStyle/>
          <a:p>
            <a:r>
              <a:rPr lang="en-MY" dirty="0"/>
              <a:t>As Patient</a:t>
            </a:r>
          </a:p>
        </p:txBody>
      </p:sp>
      <p:pic>
        <p:nvPicPr>
          <p:cNvPr id="8" name="Picture Placeholder 7">
            <a:extLst>
              <a:ext uri="{FF2B5EF4-FFF2-40B4-BE49-F238E27FC236}">
                <a16:creationId xmlns:a16="http://schemas.microsoft.com/office/drawing/2014/main" id="{F8AF8E2F-1512-1942-E79F-6A774C570F5D}"/>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108" r="-5"/>
          <a:stretch>
            <a:fillRect/>
          </a:stretch>
        </p:blipFill>
        <p:spPr>
          <a:xfrm>
            <a:off x="-1" y="0"/>
            <a:ext cx="12192001" cy="1998845"/>
          </a:xfrm>
        </p:spPr>
      </p:pic>
      <p:sp>
        <p:nvSpPr>
          <p:cNvPr id="6" name="Text Placeholder 5">
            <a:extLst>
              <a:ext uri="{FF2B5EF4-FFF2-40B4-BE49-F238E27FC236}">
                <a16:creationId xmlns:a16="http://schemas.microsoft.com/office/drawing/2014/main" id="{55C91BCF-9CD4-1C05-4E87-DBFD02CB02CC}"/>
              </a:ext>
            </a:extLst>
          </p:cNvPr>
          <p:cNvSpPr>
            <a:spLocks noGrp="1"/>
          </p:cNvSpPr>
          <p:nvPr>
            <p:ph type="body" sz="half" idx="2"/>
          </p:nvPr>
        </p:nvSpPr>
        <p:spPr>
          <a:xfrm>
            <a:off x="4610100" y="1998845"/>
            <a:ext cx="6060948" cy="4749427"/>
          </a:xfrm>
        </p:spPr>
        <p:txBody>
          <a:bodyPr>
            <a:normAutofit/>
          </a:bodyPr>
          <a:lstStyle/>
          <a:p>
            <a:pPr marL="342900" indent="-342900">
              <a:buFont typeface="+mj-lt"/>
              <a:buAutoNum type="arabicPeriod"/>
            </a:pPr>
            <a:r>
              <a:rPr lang="en-MY" dirty="0"/>
              <a:t>The Baseline and the Final Risk:</a:t>
            </a:r>
          </a:p>
          <a:p>
            <a:pPr marL="800100" lvl="1" indent="-342900">
              <a:buFont typeface="Arial" panose="020B0604020202020204" pitchFamily="34" charset="0"/>
              <a:buChar char="•"/>
            </a:pPr>
            <a:r>
              <a:rPr lang="en-MY" dirty="0"/>
              <a:t>The force plot shows the base risk at 0.50 and the patient risk at 0.46, which implies that the patient has risk lower than average but too close to the danger level.</a:t>
            </a:r>
          </a:p>
          <a:p>
            <a:pPr marL="342900" indent="-342900">
              <a:buFont typeface="+mj-lt"/>
              <a:buAutoNum type="arabicPeriod"/>
            </a:pPr>
            <a:r>
              <a:rPr lang="en-MY" dirty="0"/>
              <a:t>The Important Factors:</a:t>
            </a:r>
          </a:p>
          <a:p>
            <a:pPr marL="800100" lvl="1" indent="-342900">
              <a:buFont typeface="Arial" panose="020B0604020202020204" pitchFamily="34" charset="0"/>
              <a:buChar char="•"/>
            </a:pPr>
            <a:r>
              <a:rPr lang="en-US" dirty="0"/>
              <a:t>Pushing Risk UP (Red Arrows): Hypertension and age are the two biggest red forces in this plot. As age cannot be controlled, hypertension is the only factor that can be reduced.</a:t>
            </a:r>
          </a:p>
          <a:p>
            <a:pPr marL="800100" lvl="1" indent="-342900">
              <a:buFont typeface="Arial" panose="020B0604020202020204" pitchFamily="34" charset="0"/>
              <a:buChar char="•"/>
            </a:pPr>
            <a:r>
              <a:rPr lang="en-US" dirty="0"/>
              <a:t>Pulling Risk DOWN (Blue Arrows): BMI and low glucose level seem to be the biggest blue forces. </a:t>
            </a:r>
            <a:r>
              <a:rPr lang="en-MY" dirty="0"/>
              <a:t>While the model assumes that unknown smoking habit of the patient is a positive sign, it can turn from a blue force to a red one if there was any smoking history.</a:t>
            </a:r>
          </a:p>
          <a:p>
            <a:pPr marL="342900" indent="-342900">
              <a:buFont typeface="+mj-lt"/>
              <a:buAutoNum type="arabicPeriod"/>
            </a:pPr>
            <a:r>
              <a:rPr lang="en-MY" dirty="0"/>
              <a:t>Conclusion:</a:t>
            </a:r>
          </a:p>
          <a:p>
            <a:pPr marL="800100" lvl="1" indent="-342900">
              <a:buFont typeface="Arial" panose="020B0604020202020204" pitchFamily="34" charset="0"/>
              <a:buChar char="•"/>
            </a:pPr>
            <a:r>
              <a:rPr lang="en-MY" dirty="0"/>
              <a:t>As the age risk will only go up, the patient needs to lower the other red features to compensate for that and increase the blue features alongside that. On that note, the patient needs to control hypertension and continue managing and perhaps reduce the glucose level and BMI.</a:t>
            </a:r>
          </a:p>
        </p:txBody>
      </p:sp>
    </p:spTree>
    <p:extLst>
      <p:ext uri="{BB962C8B-B14F-4D97-AF65-F5344CB8AC3E}">
        <p14:creationId xmlns:p14="http://schemas.microsoft.com/office/powerpoint/2010/main" val="808499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500</TotalTime>
  <Words>699</Words>
  <Application>Microsoft Office PowerPoint</Application>
  <PresentationFormat>Widescreen</PresentationFormat>
  <Paragraphs>31</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As data scientist</vt:lpstr>
      <vt:lpstr>As Doctor</vt:lpstr>
      <vt:lpstr>As Patient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19</cp:revision>
  <dcterms:created xsi:type="dcterms:W3CDTF">2025-11-17T19:14:42Z</dcterms:created>
  <dcterms:modified xsi:type="dcterms:W3CDTF">2025-11-19T14:34:40Z</dcterms:modified>
</cp:coreProperties>
</file>